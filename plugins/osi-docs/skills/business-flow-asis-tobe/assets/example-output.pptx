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73152" cy="40233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FOODOPS PLATFORM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業務 AS-IS / TO-BE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店舗が紙とFAXで発注する運用から、AIが需要予測して本部が承認1クリックの運用へ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097280" cy="36576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83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想定読者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本部購買部 / 店長 / 経営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最終更新: 2026-04-29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外食チェーン本部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1行サマリ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1E2761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4023360" cy="73152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73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店舗ごとに紙・電話・FAX で発注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30店舗が独自フォーマットで紙発注書を作り、FAXで仕入先へ。本部は集計に毎週8時間かけて在庫差異を吸収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2743200"/>
            <a:ext cx="731520" cy="7315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63440" y="1371600"/>
            <a:ext cx="4023360" cy="32918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371600"/>
            <a:ext cx="4023360" cy="73152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46320" y="19659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AIが需要予測し本部は承認1クリック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846320" y="32461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POSデータ＋天気＋イベント情報からAIが店舗別発注量を提案。店長はタブレットで差分確認、本部は例外のみ承認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 AS-IS / TO-BE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2960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登場人物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1E2761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1772" y="137160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1772" y="1371600"/>
            <a:ext cx="1965960" cy="9144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5544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1772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1772" y="2697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30店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98932" y="33832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店長1名+ホール1-3名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発注・棚卸し・売上報告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46604" y="137160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46604" y="1371600"/>
            <a:ext cx="1965960" cy="9144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64" y="155448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46604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本部購買部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546604" y="2697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3名</a:t>
            </a:r>
            <a:endParaRPr lang="en-US" sz="3200" dirty="0"/>
          </a:p>
        </p:txBody>
      </p:sp>
      <p:sp>
        <p:nvSpPr>
          <p:cNvPr id="17" name="Text 13"/>
          <p:cNvSpPr/>
          <p:nvPr/>
        </p:nvSpPr>
        <p:spPr>
          <a:xfrm>
            <a:off x="2683764" y="33832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30店分の発注集計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仕入先交渉・契約管理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31436" y="137160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31436" y="1371600"/>
            <a:ext cx="1965960" cy="9144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096" y="155448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31436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仕入先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631436" y="2697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12社</a:t>
            </a:r>
            <a:endParaRPr lang="en-US" sz="3200" dirty="0"/>
          </a:p>
        </p:txBody>
      </p:sp>
      <p:sp>
        <p:nvSpPr>
          <p:cNvPr id="23" name="Text 18"/>
          <p:cNvSpPr/>
          <p:nvPr/>
        </p:nvSpPr>
        <p:spPr>
          <a:xfrm>
            <a:off x="4768596" y="33832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野菜・肉・魚・乾物など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店舗別配送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716268" y="137160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716268" y="1371600"/>
            <a:ext cx="1965960" cy="9144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1554480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16268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716268" y="2697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週次</a:t>
            </a:r>
            <a:endParaRPr lang="en-US" sz="3200" dirty="0"/>
          </a:p>
        </p:txBody>
      </p:sp>
      <p:sp>
        <p:nvSpPr>
          <p:cNvPr id="29" name="Text 23"/>
          <p:cNvSpPr/>
          <p:nvPr/>
        </p:nvSpPr>
        <p:spPr>
          <a:xfrm>
            <a:off x="6853428" y="33832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原価率・在庫回転率を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週次でレビュー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CADCFC">
              <a:alpha val="50000"/>
            </a:srgbClr>
          </a:solidFill>
          <a:ln/>
        </p:spPr>
      </p:sp>
      <p:sp>
        <p:nvSpPr>
          <p:cNvPr id="31" name="Text 2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顧客（来店客）月7万人 ── このスコープでは直接接点なし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 AS-IS / TO-BE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822960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業務全体像 ── AS-IS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1E2761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solidFill>
            <a:srgbClr val="C73E1D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店舗ごとに紙・FAX・Excelで運用、本部が手で集計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1874520"/>
            <a:ext cx="6400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874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 30店 ── 各店の独自Excel・紙メモ・口頭引き継ぎ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542032"/>
            <a:ext cx="914" cy="320040"/>
          </a:xfrm>
          <a:prstGeom prst="line">
            <a:avLst/>
          </a:prstGeom>
          <a:noFill/>
          <a:ln w="25400">
            <a:solidFill>
              <a:srgbClr val="C73E1D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663440" y="2542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FAX送信・電話確認・店長LINE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7863840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71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本部購買部 3名（週次で30店分の発注集計）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383280"/>
            <a:ext cx="1783080" cy="7772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3832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発注集計表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7480" y="3520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700"/>
                </a:solidFill>
              </a:rPr>
              <a:t>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80360" y="3383280"/>
            <a:ext cx="1783080" cy="7772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33832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受発注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520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700"/>
                </a:solidFill>
              </a:rPr>
              <a:t>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3383280"/>
            <a:ext cx="1783080" cy="7772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3832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問合せ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520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700"/>
                </a:solidFill>
              </a:rPr>
              <a:t>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12280" y="3383280"/>
            <a:ext cx="1783080" cy="7772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33832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電話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急ぎ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343400"/>
            <a:ext cx="1965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3E1D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416552"/>
            <a:ext cx="292608" cy="29260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22960" y="4343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売上参照のみ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514600" y="4343400"/>
            <a:ext cx="1965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3E1D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4416552"/>
            <a:ext cx="292608" cy="29260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2971800" y="4343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仕入先12社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663440" y="4343400"/>
            <a:ext cx="1965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3E1D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416552"/>
            <a:ext cx="292608" cy="29260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120640" y="4343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在庫アプリ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紙連動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812280" y="4343400"/>
            <a:ext cx="1965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3E1D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4416552"/>
            <a:ext cx="292608" cy="29260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269480" y="4343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天気・市況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個別確認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 AS-IS / TO-BE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822960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業務全体像 ── TO-BE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1E2761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solidFill>
            <a:srgbClr val="2E8B57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が需要予測 → 店長が差分確認 → 本部は例外承認のみ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1874520"/>
            <a:ext cx="6400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874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 30店 ── タブレットで差分確認（紙・FAX 廃止）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542032"/>
            <a:ext cx="914" cy="32004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663440" y="2542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AI予測 + プレビュー確認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7863840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077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foodops プラットフォーム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246120"/>
            <a:ext cx="222504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429000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00200" y="3291840"/>
            <a:ext cx="149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需要予測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POS×天気×イベント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店舗別に発注量を提案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160" y="3520440"/>
            <a:ext cx="228600" cy="3200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459480" y="3246120"/>
            <a:ext cx="222504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6640" y="34290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145280" y="3291840"/>
            <a:ext cx="149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店長 HITL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差分のみ確認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タブレットで承認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0240" y="3520440"/>
            <a:ext cx="228600" cy="32004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004560" y="3246120"/>
            <a:ext cx="222504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720" y="342900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90360" y="3291840"/>
            <a:ext cx="149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単一DB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発注・在庫・売上を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一元管理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65760" y="4343400"/>
            <a:ext cx="2682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365760" y="4343400"/>
            <a:ext cx="268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リアルタイム連携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3230880" y="4343400"/>
            <a:ext cx="2682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3230880" y="4343400"/>
            <a:ext cx="268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仕入先12社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/ API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96000" y="4343400"/>
            <a:ext cx="2682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6096000" y="4343400"/>
            <a:ext cx="268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天気・市況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API連携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 AS-IS / TO-BE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822960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ステップ詳細スイムレーン ── ①需要予測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1E2761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88720"/>
            <a:ext cx="8458200" cy="292608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0" y="1188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  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481328"/>
            <a:ext cx="1325880" cy="34975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81328"/>
            <a:ext cx="12344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店長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37360" y="1481328"/>
            <a:ext cx="7132320" cy="34975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831086"/>
            <a:ext cx="1325880" cy="34975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31086"/>
            <a:ext cx="12344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本部購買部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3名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37360" y="1831086"/>
            <a:ext cx="7132320" cy="34975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180844"/>
            <a:ext cx="1325880" cy="34975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80844"/>
            <a:ext cx="12344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システム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(なし)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737360" y="2180844"/>
            <a:ext cx="7132320" cy="34975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530602"/>
            <a:ext cx="1325880" cy="34975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30602"/>
            <a:ext cx="12344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情報源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737360" y="2530602"/>
            <a:ext cx="7132320" cy="34975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92224" y="1536192"/>
            <a:ext cx="1316736" cy="24003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0" y="1554480"/>
            <a:ext cx="1243584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前日の売上を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紙で集計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92224" y="1780794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閉店後30分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218688" y="1536192"/>
            <a:ext cx="1316736" cy="24003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25" name="Text 23"/>
          <p:cNvSpPr/>
          <p:nvPr/>
        </p:nvSpPr>
        <p:spPr>
          <a:xfrm>
            <a:off x="3255264" y="1554480"/>
            <a:ext cx="1243584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経験で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発注量を判断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18688" y="1780794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勘頼り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645152" y="1885950"/>
            <a:ext cx="1316736" cy="24003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681728" y="1904238"/>
            <a:ext cx="1243584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30店の発注を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Excelに転記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71616" y="1885950"/>
            <a:ext cx="1316736" cy="24003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108192" y="1904238"/>
            <a:ext cx="1243584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在庫差異を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目視で確認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71616" y="1739646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週8時間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498080" y="2585466"/>
            <a:ext cx="1316736" cy="24003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3" name="Text 31"/>
          <p:cNvSpPr/>
          <p:nvPr/>
        </p:nvSpPr>
        <p:spPr>
          <a:xfrm>
            <a:off x="7534656" y="2603754"/>
            <a:ext cx="1243584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POSは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参照のみ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08960" y="1656207"/>
            <a:ext cx="109728" cy="914"/>
          </a:xfrm>
          <a:prstGeom prst="line">
            <a:avLst/>
          </a:prstGeom>
          <a:noFill/>
          <a:ln w="20320">
            <a:solidFill>
              <a:srgbClr val="C73E1D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535424" y="1656207"/>
            <a:ext cx="109728" cy="349758"/>
          </a:xfrm>
          <a:prstGeom prst="line">
            <a:avLst/>
          </a:prstGeom>
          <a:noFill/>
          <a:ln w="20320">
            <a:solidFill>
              <a:srgbClr val="C73E1D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961888" y="2005965"/>
            <a:ext cx="109728" cy="914"/>
          </a:xfrm>
          <a:prstGeom prst="line">
            <a:avLst/>
          </a:prstGeom>
          <a:noFill/>
          <a:ln w="20320">
            <a:solidFill>
              <a:srgbClr val="C73E1D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11480" y="2971800"/>
            <a:ext cx="8458200" cy="2926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2971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98080" y="2971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  →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3264408"/>
            <a:ext cx="1325880" cy="37261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264408"/>
            <a:ext cx="12344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店長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737360" y="3264408"/>
            <a:ext cx="7132320" cy="37261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3637026"/>
            <a:ext cx="1325880" cy="37261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637026"/>
            <a:ext cx="12344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本部購買部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確認のみ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737360" y="3637026"/>
            <a:ext cx="7132320" cy="37261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1480" y="4009644"/>
            <a:ext cx="1325880" cy="37261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009644"/>
            <a:ext cx="12344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foodops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737360" y="4009644"/>
            <a:ext cx="7132320" cy="37261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1480" y="4382262"/>
            <a:ext cx="1325880" cy="37261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382262"/>
            <a:ext cx="12344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/ 外部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POS+気象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737360" y="4382262"/>
            <a:ext cx="7132320" cy="37261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92224" y="4437126"/>
            <a:ext cx="1316736" cy="26289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53" name="Text 51"/>
          <p:cNvSpPr/>
          <p:nvPr/>
        </p:nvSpPr>
        <p:spPr>
          <a:xfrm>
            <a:off x="1828800" y="4455414"/>
            <a:ext cx="1243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天気 / イベント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を取得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18688" y="4064508"/>
            <a:ext cx="1316736" cy="26289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55" name="Text 53"/>
          <p:cNvSpPr/>
          <p:nvPr/>
        </p:nvSpPr>
        <p:spPr>
          <a:xfrm>
            <a:off x="3255264" y="4082796"/>
            <a:ext cx="1243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予測する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45152" y="4064508"/>
            <a:ext cx="1316736" cy="26289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57" name="Text 55"/>
          <p:cNvSpPr/>
          <p:nvPr/>
        </p:nvSpPr>
        <p:spPr>
          <a:xfrm>
            <a:off x="4681728" y="4082796"/>
            <a:ext cx="1243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店舗別の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発注量を生成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071616" y="3319272"/>
            <a:ext cx="1316736" cy="26289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9" name="Text 57"/>
          <p:cNvSpPr/>
          <p:nvPr/>
        </p:nvSpPr>
        <p:spPr>
          <a:xfrm>
            <a:off x="6108192" y="3337560"/>
            <a:ext cx="1243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差分を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確認する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071616" y="3586734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1分以内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498080" y="3691890"/>
            <a:ext cx="1316736" cy="26289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2" name="Text 60"/>
          <p:cNvSpPr/>
          <p:nvPr/>
        </p:nvSpPr>
        <p:spPr>
          <a:xfrm>
            <a:off x="7534656" y="3710178"/>
            <a:ext cx="1243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例外のみ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承認する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 flipV="1">
            <a:off x="3108960" y="4195953"/>
            <a:ext cx="109728" cy="372618"/>
          </a:xfrm>
          <a:prstGeom prst="line">
            <a:avLst/>
          </a:prstGeom>
          <a:noFill/>
          <a:ln w="2032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535424" y="4195953"/>
            <a:ext cx="109728" cy="914"/>
          </a:xfrm>
          <a:prstGeom prst="line">
            <a:avLst/>
          </a:prstGeom>
          <a:noFill/>
          <a:ln w="2032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 flipV="1">
            <a:off x="5961888" y="3450717"/>
            <a:ext cx="109728" cy="745236"/>
          </a:xfrm>
          <a:prstGeom prst="line">
            <a:avLst/>
          </a:prstGeom>
          <a:noFill/>
          <a:ln w="2032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7388352" y="3450717"/>
            <a:ext cx="109728" cy="372618"/>
          </a:xfrm>
          <a:prstGeom prst="line">
            <a:avLst/>
          </a:prstGeom>
          <a:noFill/>
          <a:ln w="2032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411480" y="2907792"/>
            <a:ext cx="845820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68" name="Shape 66"/>
          <p:cNvSpPr/>
          <p:nvPr/>
        </p:nvSpPr>
        <p:spPr>
          <a:xfrm>
            <a:off x="5943600" y="4818888"/>
            <a:ext cx="2926080" cy="292608"/>
          </a:xfrm>
          <a:prstGeom prst="roundRect">
            <a:avLst>
              <a:gd name="adj" fmla="val 12500"/>
            </a:avLst>
          </a:prstGeom>
          <a:solidFill>
            <a:srgbClr val="F5B700"/>
          </a:solidFill>
          <a:ln/>
        </p:spPr>
      </p:sp>
      <p:sp>
        <p:nvSpPr>
          <p:cNvPr id="69" name="Text 67"/>
          <p:cNvSpPr/>
          <p:nvPr/>
        </p:nvSpPr>
        <p:spPr>
          <a:xfrm>
            <a:off x="5943600" y="4818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効果: 発注の勘頼りから卒業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 AS-IS / TO-BE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22960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ステップ詳細スイムレーン ── ②発注送信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1E2761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88720"/>
            <a:ext cx="8458200" cy="292608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0" y="1188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  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481328"/>
            <a:ext cx="1325880" cy="34975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81328"/>
            <a:ext cx="12344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店長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37360" y="1481328"/>
            <a:ext cx="7132320" cy="34975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831086"/>
            <a:ext cx="1325880" cy="34975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31086"/>
            <a:ext cx="12344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本部購買部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3名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37360" y="1831086"/>
            <a:ext cx="7132320" cy="34975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180844"/>
            <a:ext cx="1325880" cy="34975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80844"/>
            <a:ext cx="12344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システム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(なし)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737360" y="2180844"/>
            <a:ext cx="7132320" cy="34975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530602"/>
            <a:ext cx="1325880" cy="34975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30602"/>
            <a:ext cx="12344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仕入先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12社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737360" y="2530602"/>
            <a:ext cx="7132320" cy="34975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92224" y="1536192"/>
            <a:ext cx="1316736" cy="24003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0" y="1554480"/>
            <a:ext cx="1243584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発注書を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紙で書く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18688" y="1536192"/>
            <a:ext cx="1316736" cy="24003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24" name="Text 22"/>
          <p:cNvSpPr/>
          <p:nvPr/>
        </p:nvSpPr>
        <p:spPr>
          <a:xfrm>
            <a:off x="3255264" y="1554480"/>
            <a:ext cx="1243584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送信する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18688" y="1780794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送信ミスあり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645152" y="2585466"/>
            <a:ext cx="1316736" cy="24003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4681728" y="2603754"/>
            <a:ext cx="1243584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受領する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71616" y="1885950"/>
            <a:ext cx="1316736" cy="24003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108192" y="1904238"/>
            <a:ext cx="1243584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本部に電話で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確認する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71616" y="1739646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店長から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498080" y="1536192"/>
            <a:ext cx="1316736" cy="24003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32" name="Text 30"/>
          <p:cNvSpPr/>
          <p:nvPr/>
        </p:nvSpPr>
        <p:spPr>
          <a:xfrm>
            <a:off x="7534656" y="1554480"/>
            <a:ext cx="1243584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送り直し対応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する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98080" y="1780794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5%発生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108960" y="1656207"/>
            <a:ext cx="109728" cy="914"/>
          </a:xfrm>
          <a:prstGeom prst="line">
            <a:avLst/>
          </a:prstGeom>
          <a:noFill/>
          <a:ln w="20320">
            <a:solidFill>
              <a:srgbClr val="C73E1D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535424" y="1656207"/>
            <a:ext cx="109728" cy="1049274"/>
          </a:xfrm>
          <a:prstGeom prst="line">
            <a:avLst/>
          </a:prstGeom>
          <a:noFill/>
          <a:ln w="20320">
            <a:solidFill>
              <a:srgbClr val="C73E1D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5961888" y="2005965"/>
            <a:ext cx="109728" cy="699516"/>
          </a:xfrm>
          <a:prstGeom prst="line">
            <a:avLst/>
          </a:prstGeom>
          <a:noFill/>
          <a:ln w="20320">
            <a:solidFill>
              <a:srgbClr val="C73E1D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7388352" y="1656207"/>
            <a:ext cx="109728" cy="349758"/>
          </a:xfrm>
          <a:prstGeom prst="line">
            <a:avLst/>
          </a:prstGeom>
          <a:noFill/>
          <a:ln w="20320">
            <a:solidFill>
              <a:srgbClr val="C73E1D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7077456" y="1491615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要再送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11480" y="2971800"/>
            <a:ext cx="8458200" cy="2926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2971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498080" y="2971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  →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3264408"/>
            <a:ext cx="1325880" cy="37261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264408"/>
            <a:ext cx="12344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確認のみ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737360" y="3264408"/>
            <a:ext cx="7132320" cy="37261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637026"/>
            <a:ext cx="1325880" cy="37261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637026"/>
            <a:ext cx="12344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本部購買部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確認のみ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737360" y="3637026"/>
            <a:ext cx="7132320" cy="37261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4009644"/>
            <a:ext cx="1325880" cy="37261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009644"/>
            <a:ext cx="12344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foodops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737360" y="4009644"/>
            <a:ext cx="7132320" cy="37261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1480" y="4382262"/>
            <a:ext cx="1325880" cy="37261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382262"/>
            <a:ext cx="12344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仕入先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EDI/API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737360" y="4382262"/>
            <a:ext cx="7132320" cy="37261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92224" y="4064508"/>
            <a:ext cx="1316736" cy="26289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55" name="Text 53"/>
          <p:cNvSpPr/>
          <p:nvPr/>
        </p:nvSpPr>
        <p:spPr>
          <a:xfrm>
            <a:off x="1828800" y="4082796"/>
            <a:ext cx="1243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発注データを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EDIで送信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18688" y="4437126"/>
            <a:ext cx="1316736" cy="26289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57" name="Text 55"/>
          <p:cNvSpPr/>
          <p:nvPr/>
        </p:nvSpPr>
        <p:spPr>
          <a:xfrm>
            <a:off x="3255264" y="4455414"/>
            <a:ext cx="1243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受領を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返す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218688" y="4290822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即時ACK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645152" y="4064508"/>
            <a:ext cx="1316736" cy="26289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60" name="Text 58"/>
          <p:cNvSpPr/>
          <p:nvPr/>
        </p:nvSpPr>
        <p:spPr>
          <a:xfrm>
            <a:off x="4681728" y="4082796"/>
            <a:ext cx="1243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受領を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記録する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071616" y="3319272"/>
            <a:ext cx="1316736" cy="26289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2" name="Text 60"/>
          <p:cNvSpPr/>
          <p:nvPr/>
        </p:nvSpPr>
        <p:spPr>
          <a:xfrm>
            <a:off x="6108192" y="3337560"/>
            <a:ext cx="1243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確認する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71616" y="3586734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差分のみ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498080" y="3691890"/>
            <a:ext cx="1316736" cy="26289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5" name="Text 63"/>
          <p:cNvSpPr/>
          <p:nvPr/>
        </p:nvSpPr>
        <p:spPr>
          <a:xfrm>
            <a:off x="7534656" y="3710178"/>
            <a:ext cx="1243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例外のみ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ハンドル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108960" y="4195953"/>
            <a:ext cx="109728" cy="372618"/>
          </a:xfrm>
          <a:prstGeom prst="line">
            <a:avLst/>
          </a:prstGeom>
          <a:noFill/>
          <a:ln w="2032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 flipV="1">
            <a:off x="4535424" y="4195953"/>
            <a:ext cx="109728" cy="372618"/>
          </a:xfrm>
          <a:prstGeom prst="line">
            <a:avLst/>
          </a:prstGeom>
          <a:noFill/>
          <a:ln w="2032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68" name="Shape 66"/>
          <p:cNvSpPr/>
          <p:nvPr/>
        </p:nvSpPr>
        <p:spPr>
          <a:xfrm flipV="1">
            <a:off x="5961888" y="3450717"/>
            <a:ext cx="109728" cy="745236"/>
          </a:xfrm>
          <a:prstGeom prst="line">
            <a:avLst/>
          </a:prstGeom>
          <a:noFill/>
          <a:ln w="2032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7388352" y="3450717"/>
            <a:ext cx="109728" cy="372618"/>
          </a:xfrm>
          <a:prstGeom prst="line">
            <a:avLst/>
          </a:prstGeom>
          <a:noFill/>
          <a:ln w="2032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411480" y="2907792"/>
            <a:ext cx="845820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71" name="Shape 69"/>
          <p:cNvSpPr/>
          <p:nvPr/>
        </p:nvSpPr>
        <p:spPr>
          <a:xfrm>
            <a:off x="5943600" y="4818888"/>
            <a:ext cx="2926080" cy="292608"/>
          </a:xfrm>
          <a:prstGeom prst="roundRect">
            <a:avLst>
              <a:gd name="adj" fmla="val 12500"/>
            </a:avLst>
          </a:prstGeom>
          <a:solidFill>
            <a:srgbClr val="F5B700"/>
          </a:solidFill>
          <a:ln/>
        </p:spPr>
      </p:sp>
      <p:sp>
        <p:nvSpPr>
          <p:cNvPr id="72" name="Text 70"/>
          <p:cNvSpPr/>
          <p:nvPr/>
        </p:nvSpPr>
        <p:spPr>
          <a:xfrm>
            <a:off x="5943600" y="4818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効果: FAX 全廃、送信ミスゼロ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 AS-IS / TO-BE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822960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ステップ詳細スイムレーン ── ③検品・棚卸し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1E2761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88720"/>
            <a:ext cx="8458200" cy="292608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0" y="1188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  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481328"/>
            <a:ext cx="1325880" cy="34975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81328"/>
            <a:ext cx="12344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店長+ホール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37360" y="1481328"/>
            <a:ext cx="7132320" cy="34975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831086"/>
            <a:ext cx="1325880" cy="34975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31086"/>
            <a:ext cx="12344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本部購買部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3名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37360" y="1831086"/>
            <a:ext cx="7132320" cy="34975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180844"/>
            <a:ext cx="1325880" cy="34975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80844"/>
            <a:ext cx="12344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システム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(なし)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737360" y="2180844"/>
            <a:ext cx="7132320" cy="34975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530602"/>
            <a:ext cx="1325880" cy="34975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30602"/>
            <a:ext cx="12344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在庫アプリ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紙連動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737360" y="2530602"/>
            <a:ext cx="7132320" cy="34975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92224" y="1536192"/>
            <a:ext cx="1316736" cy="24003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0" y="1554480"/>
            <a:ext cx="1243584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納品を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目視確認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18688" y="1536192"/>
            <a:ext cx="1316736" cy="24003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24" name="Text 22"/>
          <p:cNvSpPr/>
          <p:nvPr/>
        </p:nvSpPr>
        <p:spPr>
          <a:xfrm>
            <a:off x="3255264" y="1554480"/>
            <a:ext cx="1243584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数量差異を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紙にメモ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18688" y="1780794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週1回紛失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645152" y="1536192"/>
            <a:ext cx="1316736" cy="24003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27" name="Text 25"/>
          <p:cNvSpPr/>
          <p:nvPr/>
        </p:nvSpPr>
        <p:spPr>
          <a:xfrm>
            <a:off x="4681728" y="1554480"/>
            <a:ext cx="1243584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Excelに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転記する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45152" y="1780794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閉店後30分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071616" y="1885950"/>
            <a:ext cx="1316736" cy="24003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108192" y="1904238"/>
            <a:ext cx="1243584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30店の差異を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集計する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98080" y="2585466"/>
            <a:ext cx="1316736" cy="24003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2" name="Text 30"/>
          <p:cNvSpPr/>
          <p:nvPr/>
        </p:nvSpPr>
        <p:spPr>
          <a:xfrm>
            <a:off x="7534656" y="2603754"/>
            <a:ext cx="1243584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在庫を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更新する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08960" y="1656207"/>
            <a:ext cx="109728" cy="914"/>
          </a:xfrm>
          <a:prstGeom prst="line">
            <a:avLst/>
          </a:prstGeom>
          <a:noFill/>
          <a:ln w="20320">
            <a:solidFill>
              <a:srgbClr val="C73E1D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535424" y="1656207"/>
            <a:ext cx="109728" cy="914"/>
          </a:xfrm>
          <a:prstGeom prst="line">
            <a:avLst/>
          </a:prstGeom>
          <a:noFill/>
          <a:ln w="20320">
            <a:solidFill>
              <a:srgbClr val="C73E1D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961888" y="1656207"/>
            <a:ext cx="109728" cy="349758"/>
          </a:xfrm>
          <a:prstGeom prst="line">
            <a:avLst/>
          </a:prstGeom>
          <a:noFill/>
          <a:ln w="20320">
            <a:solidFill>
              <a:srgbClr val="C73E1D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88352" y="2005965"/>
            <a:ext cx="109728" cy="699516"/>
          </a:xfrm>
          <a:prstGeom prst="line">
            <a:avLst/>
          </a:prstGeom>
          <a:noFill/>
          <a:ln w="20320">
            <a:solidFill>
              <a:srgbClr val="C73E1D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11480" y="2971800"/>
            <a:ext cx="8458200" cy="2926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2971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98080" y="2971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  →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3264408"/>
            <a:ext cx="1325880" cy="37261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264408"/>
            <a:ext cx="12344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スキャンのみ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737360" y="3264408"/>
            <a:ext cx="7132320" cy="37261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3637026"/>
            <a:ext cx="1325880" cy="37261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637026"/>
            <a:ext cx="12344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本部購買部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確認のみ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737360" y="3637026"/>
            <a:ext cx="7132320" cy="37261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1480" y="4009644"/>
            <a:ext cx="1325880" cy="37261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009644"/>
            <a:ext cx="12344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foodops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737360" y="4009644"/>
            <a:ext cx="7132320" cy="37261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1480" y="4382262"/>
            <a:ext cx="1325880" cy="37261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382262"/>
            <a:ext cx="12344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foodops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737360" y="4382262"/>
            <a:ext cx="7132320" cy="37261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92224" y="3319272"/>
            <a:ext cx="1316736" cy="26289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53" name="Text 51"/>
          <p:cNvSpPr/>
          <p:nvPr/>
        </p:nvSpPr>
        <p:spPr>
          <a:xfrm>
            <a:off x="1828800" y="3337560"/>
            <a:ext cx="1243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スキャンする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792224" y="3586734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1秒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218688" y="4064508"/>
            <a:ext cx="1316736" cy="26289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56" name="Text 54"/>
          <p:cNvSpPr/>
          <p:nvPr/>
        </p:nvSpPr>
        <p:spPr>
          <a:xfrm>
            <a:off x="3255264" y="4082796"/>
            <a:ext cx="1243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差異を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自動検出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45152" y="4064508"/>
            <a:ext cx="1316736" cy="26289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58" name="Text 56"/>
          <p:cNvSpPr/>
          <p:nvPr/>
        </p:nvSpPr>
        <p:spPr>
          <a:xfrm>
            <a:off x="4681728" y="4082796"/>
            <a:ext cx="1243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原因候補を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推定する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071616" y="3691890"/>
            <a:ext cx="1316736" cy="26289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0" name="Text 58"/>
          <p:cNvSpPr/>
          <p:nvPr/>
        </p:nvSpPr>
        <p:spPr>
          <a:xfrm>
            <a:off x="6108192" y="3710178"/>
            <a:ext cx="1243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閾値超のみ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確認する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498080" y="4437126"/>
            <a:ext cx="1316736" cy="26289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2" name="Text 60"/>
          <p:cNvSpPr/>
          <p:nvPr/>
        </p:nvSpPr>
        <p:spPr>
          <a:xfrm>
            <a:off x="7534656" y="4455414"/>
            <a:ext cx="1243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在庫を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リアルタイム更新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108960" y="3450717"/>
            <a:ext cx="109728" cy="745236"/>
          </a:xfrm>
          <a:prstGeom prst="line">
            <a:avLst/>
          </a:prstGeom>
          <a:noFill/>
          <a:ln w="2032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535424" y="4195953"/>
            <a:ext cx="109728" cy="914"/>
          </a:xfrm>
          <a:prstGeom prst="line">
            <a:avLst/>
          </a:prstGeom>
          <a:noFill/>
          <a:ln w="2032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 flipV="1">
            <a:off x="5961888" y="3823335"/>
            <a:ext cx="109728" cy="372618"/>
          </a:xfrm>
          <a:prstGeom prst="line">
            <a:avLst/>
          </a:prstGeom>
          <a:noFill/>
          <a:ln w="2032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7388352" y="3823335"/>
            <a:ext cx="109728" cy="745236"/>
          </a:xfrm>
          <a:prstGeom prst="line">
            <a:avLst/>
          </a:prstGeom>
          <a:noFill/>
          <a:ln w="2032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411480" y="2907792"/>
            <a:ext cx="845820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68" name="Shape 66"/>
          <p:cNvSpPr/>
          <p:nvPr/>
        </p:nvSpPr>
        <p:spPr>
          <a:xfrm>
            <a:off x="5943600" y="4818888"/>
            <a:ext cx="2926080" cy="292608"/>
          </a:xfrm>
          <a:prstGeom prst="roundRect">
            <a:avLst>
              <a:gd name="adj" fmla="val 12500"/>
            </a:avLst>
          </a:prstGeom>
          <a:solidFill>
            <a:srgbClr val="F5B700"/>
          </a:solidFill>
          <a:ln/>
        </p:spPr>
      </p:sp>
      <p:sp>
        <p:nvSpPr>
          <p:cNvPr id="69" name="Text 67"/>
          <p:cNvSpPr/>
          <p:nvPr/>
        </p:nvSpPr>
        <p:spPr>
          <a:xfrm>
            <a:off x="5943600" y="4818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効果: 閉店後30分作業を5分に短縮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 AS-IS / TO-BE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22960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ステップ詳細スイムレーン ── ④原価分析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1E2761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88720"/>
            <a:ext cx="8458200" cy="292608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0" y="1188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  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481328"/>
            <a:ext cx="1325880" cy="34975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81328"/>
            <a:ext cx="12344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店長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30名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37360" y="1481328"/>
            <a:ext cx="7132320" cy="34975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831086"/>
            <a:ext cx="1325880" cy="34975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31086"/>
            <a:ext cx="12344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本部購買部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3名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37360" y="1831086"/>
            <a:ext cx="7132320" cy="34975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180844"/>
            <a:ext cx="1325880" cy="34975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80844"/>
            <a:ext cx="12344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週次レビュー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737360" y="2180844"/>
            <a:ext cx="7132320" cy="34975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530602"/>
            <a:ext cx="1325880" cy="34975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30602"/>
            <a:ext cx="12344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737360" y="2530602"/>
            <a:ext cx="7132320" cy="34975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92224" y="1536192"/>
            <a:ext cx="1316736" cy="24003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0" y="1554480"/>
            <a:ext cx="1243584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店舗別 PL 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手集計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92224" y="1780794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月末3日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218688" y="1885950"/>
            <a:ext cx="1316736" cy="24003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255264" y="1904238"/>
            <a:ext cx="1243584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30店をExcelに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転記する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45152" y="2585466"/>
            <a:ext cx="1316736" cy="24003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4681728" y="2603754"/>
            <a:ext cx="1243584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ピボットで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集計する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45152" y="2439162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重い・遅い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071616" y="1885950"/>
            <a:ext cx="1316736" cy="24003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108192" y="1904238"/>
            <a:ext cx="1243584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原価率の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異常を探す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71616" y="1739646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目視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498080" y="2235708"/>
            <a:ext cx="1316736" cy="24003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7534656" y="2253996"/>
            <a:ext cx="1243584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週次会議で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報告する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08960" y="1656207"/>
            <a:ext cx="109728" cy="349758"/>
          </a:xfrm>
          <a:prstGeom prst="line">
            <a:avLst/>
          </a:prstGeom>
          <a:noFill/>
          <a:ln w="20320">
            <a:solidFill>
              <a:srgbClr val="C73E1D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535424" y="2005965"/>
            <a:ext cx="109728" cy="699516"/>
          </a:xfrm>
          <a:prstGeom prst="line">
            <a:avLst/>
          </a:prstGeom>
          <a:noFill/>
          <a:ln w="20320">
            <a:solidFill>
              <a:srgbClr val="C73E1D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5961888" y="2005965"/>
            <a:ext cx="109728" cy="699516"/>
          </a:xfrm>
          <a:prstGeom prst="line">
            <a:avLst/>
          </a:prstGeom>
          <a:noFill/>
          <a:ln w="20320">
            <a:solidFill>
              <a:srgbClr val="C73E1D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388352" y="2005965"/>
            <a:ext cx="109728" cy="349758"/>
          </a:xfrm>
          <a:prstGeom prst="line">
            <a:avLst/>
          </a:prstGeom>
          <a:noFill/>
          <a:ln w="20320">
            <a:solidFill>
              <a:srgbClr val="C73E1D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11480" y="2971800"/>
            <a:ext cx="8458200" cy="2926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2971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98080" y="2971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  →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3264408"/>
            <a:ext cx="1325880" cy="37261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264408"/>
            <a:ext cx="12344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店長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確認のみ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737360" y="3264408"/>
            <a:ext cx="7132320" cy="37261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3637026"/>
            <a:ext cx="1325880" cy="37261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637026"/>
            <a:ext cx="12344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本部購買部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判断のみ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737360" y="3637026"/>
            <a:ext cx="7132320" cy="37261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" y="4009644"/>
            <a:ext cx="1325880" cy="37261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009644"/>
            <a:ext cx="12344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737360" y="4009644"/>
            <a:ext cx="7132320" cy="37261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" y="4382262"/>
            <a:ext cx="1325880" cy="372618"/>
          </a:xfrm>
          <a:prstGeom prst="rect">
            <a:avLst/>
          </a:prstGeom>
          <a:solidFill>
            <a:srgbClr val="151B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382262"/>
            <a:ext cx="12344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foodops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737360" y="4382262"/>
            <a:ext cx="7132320" cy="37261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92224" y="4437126"/>
            <a:ext cx="1316736" cy="26289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54" name="Text 52"/>
          <p:cNvSpPr/>
          <p:nvPr/>
        </p:nvSpPr>
        <p:spPr>
          <a:xfrm>
            <a:off x="1828800" y="4455414"/>
            <a:ext cx="1243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売上・仕入を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自動集計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18688" y="4437126"/>
            <a:ext cx="1316736" cy="26289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56" name="Text 54"/>
          <p:cNvSpPr/>
          <p:nvPr/>
        </p:nvSpPr>
        <p:spPr>
          <a:xfrm>
            <a:off x="3255264" y="4455414"/>
            <a:ext cx="1243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原価率異常を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検出する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218688" y="4290822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前年同月比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645152" y="4437126"/>
            <a:ext cx="1316736" cy="26289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59" name="Text 57"/>
          <p:cNvSpPr/>
          <p:nvPr/>
        </p:nvSpPr>
        <p:spPr>
          <a:xfrm>
            <a:off x="4681728" y="4455414"/>
            <a:ext cx="1243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原因仮説を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提示する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71616" y="3691890"/>
            <a:ext cx="1316736" cy="26289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1" name="Text 59"/>
          <p:cNvSpPr/>
          <p:nvPr/>
        </p:nvSpPr>
        <p:spPr>
          <a:xfrm>
            <a:off x="6108192" y="3710178"/>
            <a:ext cx="1243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判断する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498080" y="4064508"/>
            <a:ext cx="1316736" cy="26289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3" name="Text 61"/>
          <p:cNvSpPr/>
          <p:nvPr/>
        </p:nvSpPr>
        <p:spPr>
          <a:xfrm>
            <a:off x="7534656" y="4082796"/>
            <a:ext cx="12435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で把握する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498080" y="3918204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108960" y="4568571"/>
            <a:ext cx="109728" cy="914"/>
          </a:xfrm>
          <a:prstGeom prst="line">
            <a:avLst/>
          </a:prstGeom>
          <a:noFill/>
          <a:ln w="2032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4535424" y="4568571"/>
            <a:ext cx="109728" cy="914"/>
          </a:xfrm>
          <a:prstGeom prst="line">
            <a:avLst/>
          </a:prstGeom>
          <a:noFill/>
          <a:ln w="2032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 flipV="1">
            <a:off x="5961888" y="3823335"/>
            <a:ext cx="109728" cy="745236"/>
          </a:xfrm>
          <a:prstGeom prst="line">
            <a:avLst/>
          </a:prstGeom>
          <a:noFill/>
          <a:ln w="2032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7388352" y="3823335"/>
            <a:ext cx="109728" cy="372618"/>
          </a:xfrm>
          <a:prstGeom prst="line">
            <a:avLst/>
          </a:prstGeom>
          <a:noFill/>
          <a:ln w="20320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411480" y="2907792"/>
            <a:ext cx="845820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70" name="Shape 68"/>
          <p:cNvSpPr/>
          <p:nvPr/>
        </p:nvSpPr>
        <p:spPr>
          <a:xfrm>
            <a:off x="5943600" y="4818888"/>
            <a:ext cx="2926080" cy="292608"/>
          </a:xfrm>
          <a:prstGeom prst="roundRect">
            <a:avLst>
              <a:gd name="adj" fmla="val 12500"/>
            </a:avLst>
          </a:prstGeom>
          <a:solidFill>
            <a:srgbClr val="F5B700"/>
          </a:solidFill>
          <a:ln/>
        </p:spPr>
      </p:sp>
      <p:sp>
        <p:nvSpPr>
          <p:cNvPr id="71" name="Text 69"/>
          <p:cNvSpPr/>
          <p:nvPr/>
        </p:nvSpPr>
        <p:spPr>
          <a:xfrm>
            <a:off x="5943600" y="4818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効果: 月末作業ゼロ、即時意思決定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 AS-IS / TO-BE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22960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横軸の構造変化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1E2761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22860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88920" y="1280160"/>
            <a:ext cx="3108960" cy="457200"/>
          </a:xfrm>
          <a:prstGeom prst="rect">
            <a:avLst/>
          </a:prstGeom>
          <a:solidFill>
            <a:srgbClr val="C73E1D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280160"/>
            <a:ext cx="2743200" cy="457200"/>
          </a:xfrm>
          <a:prstGeom prst="rect">
            <a:avLst/>
          </a:prstGeom>
          <a:solidFill>
            <a:srgbClr val="2E8B57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8229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830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3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880360" y="23317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FAX / Outlook / 電話 / POS / 紙 / 在庫アプリ / 天気サイト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35040" y="2331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foodops 1つ + 既存POS（連携）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8229600" cy="132588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546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発注精度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8892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3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勘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880360" y="3703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店長の経験 + Excelの過去平均、欠品/廃棄が常態化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035040" y="3703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POS×天気×イベントで需要予測、欠品/廃棄を最小化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 AS-IS / TO-BE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導入で何が起きるか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731520" cy="36576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03120"/>
            <a:ext cx="2606040" cy="1783080"/>
          </a:xfrm>
          <a:prstGeom prst="rect">
            <a:avLst/>
          </a:prstGeom>
          <a:solidFill>
            <a:srgbClr val="1E2761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260604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402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8+ → 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FAX/紙/Excel往復が単一プラットフォームへ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2103120"/>
            <a:ext cx="2606040" cy="1783080"/>
          </a:xfrm>
          <a:prstGeom prst="rect">
            <a:avLst/>
          </a:prstGeom>
          <a:solidFill>
            <a:srgbClr val="1E2761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103120"/>
            <a:ext cx="260604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2402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週8h → 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91840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本部の集計時間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246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30店の手集計が消滅、リアルタイム化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2103120"/>
            <a:ext cx="2606040" cy="1783080"/>
          </a:xfrm>
          <a:prstGeom prst="rect">
            <a:avLst/>
          </a:prstGeom>
          <a:solidFill>
            <a:srgbClr val="1E2761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2103120"/>
            <a:ext cx="260604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2402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35040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発注ミス率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3246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EDI連携で送信エラー/漏れがゼロに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店長は「発注作業」から解放され、「お客様体験」に集中できる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最終更新: 2026-04-29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業務 AS-IS / TO-BE</dc:title>
  <dc:subject>PptxGenJS Presentation</dc:subject>
  <dc:creator>外食チェーン本部</dc:creator>
  <cp:lastModifiedBy>外食チェーン本部</cp:lastModifiedBy>
  <cp:revision>1</cp:revision>
  <dcterms:created xsi:type="dcterms:W3CDTF">2026-04-29T09:36:15Z</dcterms:created>
  <dcterms:modified xsi:type="dcterms:W3CDTF">2026-04-29T09:36:15Z</dcterms:modified>
</cp:coreProperties>
</file>